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0" r:id="rId5"/>
    <p:sldId id="261" r:id="rId6"/>
    <p:sldId id="262" r:id="rId7"/>
    <p:sldId id="263" r:id="rId8"/>
    <p:sldId id="264" r:id="rId9"/>
    <p:sldId id="25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96" d="100"/>
          <a:sy n="96" d="100"/>
        </p:scale>
        <p:origin x="1038" y="61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5EA3B-D56A-4476-BC6F-E5D5A956D518}"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B4CE43-89F1-439A-953A-9184C6AAD0D2}" type="slidenum">
              <a:rPr lang="en-US" smtClean="0"/>
              <a:t>‹#›</a:t>
            </a:fld>
            <a:endParaRPr lang="en-US"/>
          </a:p>
        </p:txBody>
      </p:sp>
    </p:spTree>
    <p:extLst>
      <p:ext uri="{BB962C8B-B14F-4D97-AF65-F5344CB8AC3E}">
        <p14:creationId xmlns:p14="http://schemas.microsoft.com/office/powerpoint/2010/main" val="3314292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B4CE43-89F1-439A-953A-9184C6AAD0D2}" type="slidenum">
              <a:rPr lang="en-US" smtClean="0"/>
              <a:t>6</a:t>
            </a:fld>
            <a:endParaRPr lang="en-US"/>
          </a:p>
        </p:txBody>
      </p:sp>
    </p:spTree>
    <p:extLst>
      <p:ext uri="{BB962C8B-B14F-4D97-AF65-F5344CB8AC3E}">
        <p14:creationId xmlns:p14="http://schemas.microsoft.com/office/powerpoint/2010/main" val="4290926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D6D0F569-AC90-44EB-9EF4-4E5C2F5D823C}" type="datetime1">
              <a:rPr lang="en-US" smtClean="0"/>
              <a:t>12/4/2025</a:t>
            </a:fld>
            <a:endParaRPr lang="en-US" dirty="0"/>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545414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8C2D79EF-17C8-45D8-9866-DAF5723FC604}" type="datetime1">
              <a:rPr lang="en-US" smtClean="0"/>
              <a:t>12/4/2025</a:t>
            </a:fld>
            <a:endParaRPr lang="en-US" dirty="0"/>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36828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DFFC2ADC-3680-4013-A757-E4663495DB98}" type="datetime1">
              <a:rPr lang="en-US" smtClean="0"/>
              <a:t>12/4/2025</a:t>
            </a:fld>
            <a:endParaRPr lang="en-US" dirty="0"/>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003977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4751BA94-5DCA-4F19-960F-0FB2BD5EE85A}" type="datetime1">
              <a:rPr lang="en-US" smtClean="0"/>
              <a:t>12/4/2025</a:t>
            </a:fld>
            <a:endParaRPr lang="en-US" dirty="0"/>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48932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01BED947-38D9-44AC-8B89-E79758333B77}" type="datetime1">
              <a:rPr lang="en-US" smtClean="0"/>
              <a:t>12/4/2025</a:t>
            </a:fld>
            <a:endParaRPr lang="en-US" dirty="0"/>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037693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a:t>Click to edit Master title style</a:t>
            </a:r>
            <a:endParaRPr lang="en-US" dirty="0"/>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3781E23F-BD3C-4F23-B116-2B758120C8AC}" type="datetime1">
              <a:rPr lang="en-US" smtClean="0"/>
              <a:t>12/4/2025</a:t>
            </a:fld>
            <a:endParaRPr lang="en-US" dirty="0"/>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48022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473CFAA9-6D59-4D98-869E-ACBDB83B2CA4}" type="datetime1">
              <a:rPr lang="en-US" smtClean="0"/>
              <a:t>12/4/2025</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703644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DC410804-27E3-430A-BB42-B831260DE39A}" type="datetime1">
              <a:rPr lang="en-US" smtClean="0"/>
              <a:t>12/4/2025</a:t>
            </a:fld>
            <a:endParaRPr lang="en-US" dirty="0"/>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285644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60E22DE3-3D1A-4D53-B9A6-6C7463B8C992}" type="datetime1">
              <a:rPr lang="en-US" smtClean="0"/>
              <a:t>12/4/2025</a:t>
            </a:fld>
            <a:endParaRPr lang="en-US" dirty="0"/>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07528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46BA7D41-E8B7-4A0B-B861-3EC4AE88917D}" type="datetime1">
              <a:rPr lang="en-US" smtClean="0"/>
              <a:t>12/4/2025</a:t>
            </a:fld>
            <a:endParaRPr lang="en-US" dirty="0"/>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613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A7C34823-0B19-4B4E-A643-7A3B0A3D24D6}" type="datetime1">
              <a:rPr lang="en-US" smtClean="0"/>
              <a:t>12/4/2025</a:t>
            </a:fld>
            <a:endParaRPr lang="en-US" dirty="0"/>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30951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5ECD8B30-1B71-45A1-8314-D59C86F581E1}" type="datetime1">
              <a:rPr lang="en-US" smtClean="0"/>
              <a:pPr/>
              <a:t>12/4/2025</a:t>
            </a:fld>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dirty="0"/>
              <a:t>Sample Footer Text</a:t>
            </a:r>
            <a:endParaRPr lang="en-US" b="1" dirty="0"/>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694802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masashitsubaki/molecularGNN_smiles?tab=readme-ov-fil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0FE29-56CB-004F-8713-9956BAB4933C}"/>
              </a:ext>
            </a:extLst>
          </p:cNvPr>
          <p:cNvSpPr>
            <a:spLocks noGrp="1"/>
          </p:cNvSpPr>
          <p:nvPr>
            <p:ph type="ctrTitle"/>
          </p:nvPr>
        </p:nvSpPr>
        <p:spPr>
          <a:xfrm>
            <a:off x="1420634" y="787007"/>
            <a:ext cx="9144000" cy="3438401"/>
          </a:xfrm>
        </p:spPr>
        <p:txBody>
          <a:bodyPr>
            <a:normAutofit/>
          </a:bodyPr>
          <a:lstStyle/>
          <a:p>
            <a:r>
              <a:rPr lang="en-US" dirty="0">
                <a:latin typeface="Aptos Display" panose="020B0004020202020204" pitchFamily="34" charset="0"/>
              </a:rPr>
              <a:t>Melting Point Prediction for Organic Molecules</a:t>
            </a:r>
          </a:p>
        </p:txBody>
      </p:sp>
      <p:sp>
        <p:nvSpPr>
          <p:cNvPr id="3" name="Subtitle 2">
            <a:extLst>
              <a:ext uri="{FF2B5EF4-FFF2-40B4-BE49-F238E27FC236}">
                <a16:creationId xmlns:a16="http://schemas.microsoft.com/office/drawing/2014/main" id="{31800473-535C-71AA-C054-2156185A7510}"/>
              </a:ext>
            </a:extLst>
          </p:cNvPr>
          <p:cNvSpPr>
            <a:spLocks noGrp="1"/>
          </p:cNvSpPr>
          <p:nvPr>
            <p:ph type="subTitle" idx="1"/>
          </p:nvPr>
        </p:nvSpPr>
        <p:spPr>
          <a:xfrm>
            <a:off x="1524000" y="4923539"/>
            <a:ext cx="9144000" cy="1655762"/>
          </a:xfrm>
        </p:spPr>
        <p:txBody>
          <a:bodyPr/>
          <a:lstStyle/>
          <a:p>
            <a:r>
              <a:rPr lang="en-US" dirty="0"/>
              <a:t>Mitchell Clove</a:t>
            </a:r>
          </a:p>
        </p:txBody>
      </p:sp>
      <p:sp>
        <p:nvSpPr>
          <p:cNvPr id="4" name="TextBox 3">
            <a:extLst>
              <a:ext uri="{FF2B5EF4-FFF2-40B4-BE49-F238E27FC236}">
                <a16:creationId xmlns:a16="http://schemas.microsoft.com/office/drawing/2014/main" id="{A2E8DB2C-5749-FB79-2F87-58B46BC010C6}"/>
              </a:ext>
            </a:extLst>
          </p:cNvPr>
          <p:cNvSpPr txBox="1"/>
          <p:nvPr/>
        </p:nvSpPr>
        <p:spPr>
          <a:xfrm>
            <a:off x="540689" y="6209969"/>
            <a:ext cx="300082" cy="369332"/>
          </a:xfrm>
          <a:prstGeom prst="rect">
            <a:avLst/>
          </a:prstGeom>
          <a:noFill/>
        </p:spPr>
        <p:txBody>
          <a:bodyPr wrap="none" rtlCol="0">
            <a:spAutoFit/>
          </a:bodyPr>
          <a:lstStyle/>
          <a:p>
            <a:r>
              <a:rPr lang="en-US" dirty="0"/>
              <a:t>1</a:t>
            </a:r>
          </a:p>
        </p:txBody>
      </p:sp>
    </p:spTree>
    <p:extLst>
      <p:ext uri="{BB962C8B-B14F-4D97-AF65-F5344CB8AC3E}">
        <p14:creationId xmlns:p14="http://schemas.microsoft.com/office/powerpoint/2010/main" val="4133823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F7E56-8D6D-8B19-7488-B5C40980C159}"/>
              </a:ext>
            </a:extLst>
          </p:cNvPr>
          <p:cNvSpPr>
            <a:spLocks noGrp="1"/>
          </p:cNvSpPr>
          <p:nvPr>
            <p:ph type="title"/>
          </p:nvPr>
        </p:nvSpPr>
        <p:spPr/>
        <p:txBody>
          <a:bodyPr/>
          <a:lstStyle/>
          <a:p>
            <a:r>
              <a:rPr lang="en-US" dirty="0">
                <a:latin typeface="Aptos Display" panose="020B0004020202020204" pitchFamily="34" charset="0"/>
              </a:rPr>
              <a:t>Problem &amp; Motivation</a:t>
            </a:r>
          </a:p>
        </p:txBody>
      </p:sp>
      <p:sp>
        <p:nvSpPr>
          <p:cNvPr id="3" name="Content Placeholder 2">
            <a:extLst>
              <a:ext uri="{FF2B5EF4-FFF2-40B4-BE49-F238E27FC236}">
                <a16:creationId xmlns:a16="http://schemas.microsoft.com/office/drawing/2014/main" id="{3B4A45E6-94AF-C0D7-5A9C-E307817FC782}"/>
              </a:ext>
            </a:extLst>
          </p:cNvPr>
          <p:cNvSpPr>
            <a:spLocks noGrp="1"/>
          </p:cNvSpPr>
          <p:nvPr>
            <p:ph idx="1"/>
          </p:nvPr>
        </p:nvSpPr>
        <p:spPr>
          <a:xfrm>
            <a:off x="838200" y="1825625"/>
            <a:ext cx="10158454" cy="3589213"/>
          </a:xfrm>
        </p:spPr>
        <p:txBody>
          <a:bodyPr>
            <a:normAutofit fontScale="92500" lnSpcReduction="10000"/>
          </a:bodyPr>
          <a:lstStyle/>
          <a:p>
            <a:r>
              <a:rPr lang="en-US" dirty="0"/>
              <a:t>Organic Molecules have many applications, including drugs, munitions, fuels, batteries, etc. [1]</a:t>
            </a:r>
          </a:p>
          <a:p>
            <a:r>
              <a:rPr lang="en-US" dirty="0"/>
              <a:t>Performance of the molecule depends on temperature, i.e. a compound may act differently as a liquid vs solid</a:t>
            </a:r>
          </a:p>
          <a:p>
            <a:r>
              <a:rPr lang="en-US" dirty="0"/>
              <a:t>There are tens of thousands of organic compounds, so a model that is reliable for predicting melting points is useful</a:t>
            </a:r>
          </a:p>
          <a:p>
            <a:r>
              <a:rPr lang="en-US" dirty="0"/>
              <a:t>The goal of my project was to predict a discrete value, the melting point, based on molecular descriptors.</a:t>
            </a:r>
          </a:p>
          <a:p>
            <a:r>
              <a:rPr lang="en-US" dirty="0"/>
              <a:t>The dataset included the SMILES molecular descriptor, and 424 groups</a:t>
            </a:r>
          </a:p>
          <a:p>
            <a:endParaRPr lang="en-US" dirty="0"/>
          </a:p>
        </p:txBody>
      </p:sp>
      <p:sp>
        <p:nvSpPr>
          <p:cNvPr id="4" name="TextBox 3">
            <a:extLst>
              <a:ext uri="{FF2B5EF4-FFF2-40B4-BE49-F238E27FC236}">
                <a16:creationId xmlns:a16="http://schemas.microsoft.com/office/drawing/2014/main" id="{2415D6FC-0B39-9FFC-503A-6BA099256A73}"/>
              </a:ext>
            </a:extLst>
          </p:cNvPr>
          <p:cNvSpPr txBox="1"/>
          <p:nvPr/>
        </p:nvSpPr>
        <p:spPr>
          <a:xfrm>
            <a:off x="540689" y="6209969"/>
            <a:ext cx="300082" cy="369332"/>
          </a:xfrm>
          <a:prstGeom prst="rect">
            <a:avLst/>
          </a:prstGeom>
          <a:noFill/>
        </p:spPr>
        <p:txBody>
          <a:bodyPr wrap="none" rtlCol="0">
            <a:spAutoFit/>
          </a:bodyPr>
          <a:lstStyle/>
          <a:p>
            <a:r>
              <a:rPr lang="en-US" dirty="0"/>
              <a:t>2</a:t>
            </a:r>
          </a:p>
        </p:txBody>
      </p:sp>
      <p:sp>
        <p:nvSpPr>
          <p:cNvPr id="7" name="TextBox 6">
            <a:extLst>
              <a:ext uri="{FF2B5EF4-FFF2-40B4-BE49-F238E27FC236}">
                <a16:creationId xmlns:a16="http://schemas.microsoft.com/office/drawing/2014/main" id="{6704424C-A85F-302C-C561-CB97A1820CCA}"/>
              </a:ext>
            </a:extLst>
          </p:cNvPr>
          <p:cNvSpPr txBox="1"/>
          <p:nvPr/>
        </p:nvSpPr>
        <p:spPr>
          <a:xfrm>
            <a:off x="1073426" y="5350739"/>
            <a:ext cx="4134678" cy="923330"/>
          </a:xfrm>
          <a:prstGeom prst="rect">
            <a:avLst/>
          </a:prstGeom>
          <a:noFill/>
        </p:spPr>
        <p:txBody>
          <a:bodyPr wrap="square" rtlCol="0">
            <a:spAutoFit/>
          </a:bodyPr>
          <a:lstStyle/>
          <a:p>
            <a:r>
              <a:rPr lang="en-US" dirty="0" err="1"/>
              <a:t>id,SMILES,Tm,Group</a:t>
            </a:r>
            <a:r>
              <a:rPr lang="en-US" dirty="0"/>
              <a:t> 1,…</a:t>
            </a:r>
          </a:p>
          <a:p>
            <a:r>
              <a:rPr lang="en-US" dirty="0"/>
              <a:t>2175,FC1=C(F)C(F)(F)C1(F)F,213.15,…</a:t>
            </a:r>
          </a:p>
          <a:p>
            <a:endParaRPr lang="en-US" dirty="0"/>
          </a:p>
        </p:txBody>
      </p:sp>
    </p:spTree>
    <p:extLst>
      <p:ext uri="{BB962C8B-B14F-4D97-AF65-F5344CB8AC3E}">
        <p14:creationId xmlns:p14="http://schemas.microsoft.com/office/powerpoint/2010/main" val="3004609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E0E2-BC13-238E-1425-A3CC612B2B0B}"/>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8CAB8957-5974-308F-5C65-5B921EC5A1EF}"/>
              </a:ext>
            </a:extLst>
          </p:cNvPr>
          <p:cNvSpPr>
            <a:spLocks noGrp="1"/>
          </p:cNvSpPr>
          <p:nvPr>
            <p:ph idx="1"/>
          </p:nvPr>
        </p:nvSpPr>
        <p:spPr/>
        <p:txBody>
          <a:bodyPr>
            <a:normAutofit lnSpcReduction="10000"/>
          </a:bodyPr>
          <a:lstStyle/>
          <a:p>
            <a:pPr marL="0" indent="0">
              <a:buNone/>
            </a:pPr>
            <a:r>
              <a:rPr lang="en-US" dirty="0"/>
              <a:t>I tried several methods:</a:t>
            </a:r>
          </a:p>
          <a:p>
            <a:r>
              <a:rPr lang="en-US" dirty="0"/>
              <a:t>Gradient Boosted Trees – YDF</a:t>
            </a:r>
          </a:p>
          <a:p>
            <a:r>
              <a:rPr lang="en-US" dirty="0"/>
              <a:t>Simple Neural Network - TensorFlow</a:t>
            </a:r>
          </a:p>
          <a:p>
            <a:r>
              <a:rPr lang="en-US" dirty="0"/>
              <a:t>Linear Regression - TensorFlow</a:t>
            </a:r>
          </a:p>
          <a:p>
            <a:r>
              <a:rPr lang="en-US" dirty="0"/>
              <a:t>Graph Neural Network – </a:t>
            </a:r>
            <a:r>
              <a:rPr lang="en-US" dirty="0" err="1"/>
              <a:t>PyTorch</a:t>
            </a:r>
            <a:endParaRPr lang="en-US" dirty="0"/>
          </a:p>
          <a:p>
            <a:pPr marL="0" indent="0">
              <a:buNone/>
            </a:pPr>
            <a:r>
              <a:rPr lang="en-US" dirty="0"/>
              <a:t>My theory was that the graph neural network would outperform the others, due to the sparseness of the data. (2662 rows vs 424 descriptors.) I thought the neural network would be second because of the complexity of the data, which would be too hard to represent in other formats.</a:t>
            </a:r>
          </a:p>
        </p:txBody>
      </p:sp>
      <p:sp>
        <p:nvSpPr>
          <p:cNvPr id="4" name="TextBox 3">
            <a:extLst>
              <a:ext uri="{FF2B5EF4-FFF2-40B4-BE49-F238E27FC236}">
                <a16:creationId xmlns:a16="http://schemas.microsoft.com/office/drawing/2014/main" id="{1F5CA22A-775F-F7DE-848D-5790052DC5F0}"/>
              </a:ext>
            </a:extLst>
          </p:cNvPr>
          <p:cNvSpPr txBox="1"/>
          <p:nvPr/>
        </p:nvSpPr>
        <p:spPr>
          <a:xfrm>
            <a:off x="540689" y="6209969"/>
            <a:ext cx="300082"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3231642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C5F56-84EF-9B0D-1256-97E572E7B0F6}"/>
              </a:ext>
            </a:extLst>
          </p:cNvPr>
          <p:cNvSpPr>
            <a:spLocks noGrp="1"/>
          </p:cNvSpPr>
          <p:nvPr>
            <p:ph type="title"/>
          </p:nvPr>
        </p:nvSpPr>
        <p:spPr/>
        <p:txBody>
          <a:bodyPr/>
          <a:lstStyle/>
          <a:p>
            <a:r>
              <a:rPr lang="en-US" dirty="0"/>
              <a:t>More Info on Graph Neural Network</a:t>
            </a:r>
          </a:p>
        </p:txBody>
      </p:sp>
      <p:sp>
        <p:nvSpPr>
          <p:cNvPr id="3" name="Content Placeholder 2">
            <a:extLst>
              <a:ext uri="{FF2B5EF4-FFF2-40B4-BE49-F238E27FC236}">
                <a16:creationId xmlns:a16="http://schemas.microsoft.com/office/drawing/2014/main" id="{7B3D2D73-67EA-AD20-B65E-3F78407457FF}"/>
              </a:ext>
            </a:extLst>
          </p:cNvPr>
          <p:cNvSpPr>
            <a:spLocks noGrp="1"/>
          </p:cNvSpPr>
          <p:nvPr>
            <p:ph idx="1"/>
          </p:nvPr>
        </p:nvSpPr>
        <p:spPr/>
        <p:txBody>
          <a:bodyPr/>
          <a:lstStyle/>
          <a:p>
            <a:r>
              <a:rPr lang="en-US" dirty="0"/>
              <a:t>I used a GNN implementation that transforms SMILES molecular descriptors into graph format. [3]</a:t>
            </a:r>
          </a:p>
          <a:p>
            <a:r>
              <a:rPr lang="en-US" dirty="0"/>
              <a:t>I ignored the group descriptors when training the GNN</a:t>
            </a:r>
          </a:p>
          <a:p>
            <a:pPr marL="0" indent="0">
              <a:buNone/>
            </a:pPr>
            <a:endParaRPr lang="en-US" dirty="0"/>
          </a:p>
        </p:txBody>
      </p:sp>
      <p:pic>
        <p:nvPicPr>
          <p:cNvPr id="5" name="Picture 4" descr="A diagram of a signal&#10;&#10;AI-generated content may be incorrect.">
            <a:extLst>
              <a:ext uri="{FF2B5EF4-FFF2-40B4-BE49-F238E27FC236}">
                <a16:creationId xmlns:a16="http://schemas.microsoft.com/office/drawing/2014/main" id="{15E72466-F917-274C-966E-1A3F537DB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4272" y="3498494"/>
            <a:ext cx="7312549" cy="2361617"/>
          </a:xfrm>
          <a:prstGeom prst="rect">
            <a:avLst/>
          </a:prstGeom>
        </p:spPr>
      </p:pic>
      <p:sp>
        <p:nvSpPr>
          <p:cNvPr id="6" name="TextBox 5">
            <a:extLst>
              <a:ext uri="{FF2B5EF4-FFF2-40B4-BE49-F238E27FC236}">
                <a16:creationId xmlns:a16="http://schemas.microsoft.com/office/drawing/2014/main" id="{F83BC23C-3EC7-D38B-4A58-DAB47941657E}"/>
              </a:ext>
            </a:extLst>
          </p:cNvPr>
          <p:cNvSpPr txBox="1"/>
          <p:nvPr/>
        </p:nvSpPr>
        <p:spPr>
          <a:xfrm>
            <a:off x="1044271" y="5992297"/>
            <a:ext cx="8775589" cy="923330"/>
          </a:xfrm>
          <a:prstGeom prst="rect">
            <a:avLst/>
          </a:prstGeom>
          <a:noFill/>
        </p:spPr>
        <p:txBody>
          <a:bodyPr wrap="square" rtlCol="0">
            <a:spAutoFit/>
          </a:bodyPr>
          <a:lstStyle/>
          <a:p>
            <a:r>
              <a:rPr lang="en-US" dirty="0"/>
              <a:t>Graphic from GitHub repository of </a:t>
            </a:r>
            <a:r>
              <a:rPr lang="en-US" b="1" dirty="0"/>
              <a:t>Graph neural network (GNN) for molecular property prediction (SMILES format), </a:t>
            </a:r>
            <a:r>
              <a:rPr lang="en-US" dirty="0"/>
              <a:t>the repository I used</a:t>
            </a:r>
            <a:endParaRPr lang="en-US" b="1" dirty="0"/>
          </a:p>
          <a:p>
            <a:endParaRPr lang="en-US" dirty="0"/>
          </a:p>
        </p:txBody>
      </p:sp>
      <p:sp>
        <p:nvSpPr>
          <p:cNvPr id="7" name="TextBox 6">
            <a:extLst>
              <a:ext uri="{FF2B5EF4-FFF2-40B4-BE49-F238E27FC236}">
                <a16:creationId xmlns:a16="http://schemas.microsoft.com/office/drawing/2014/main" id="{F95E6C00-1979-FCEF-CFAD-B08915558DE2}"/>
              </a:ext>
            </a:extLst>
          </p:cNvPr>
          <p:cNvSpPr txBox="1"/>
          <p:nvPr/>
        </p:nvSpPr>
        <p:spPr>
          <a:xfrm>
            <a:off x="540689" y="6209969"/>
            <a:ext cx="300082"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465338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04C54-D624-8DF2-8F0E-828ED4667ED9}"/>
              </a:ext>
            </a:extLst>
          </p:cNvPr>
          <p:cNvSpPr>
            <a:spLocks noGrp="1"/>
          </p:cNvSpPr>
          <p:nvPr>
            <p:ph type="title"/>
          </p:nvPr>
        </p:nvSpPr>
        <p:spPr/>
        <p:txBody>
          <a:bodyPr/>
          <a:lstStyle/>
          <a:p>
            <a:r>
              <a:rPr lang="en-US" dirty="0"/>
              <a:t>Experiments</a:t>
            </a:r>
          </a:p>
        </p:txBody>
      </p:sp>
      <p:sp>
        <p:nvSpPr>
          <p:cNvPr id="3" name="Content Placeholder 2">
            <a:extLst>
              <a:ext uri="{FF2B5EF4-FFF2-40B4-BE49-F238E27FC236}">
                <a16:creationId xmlns:a16="http://schemas.microsoft.com/office/drawing/2014/main" id="{7AF513E1-6555-C982-CCBB-230BE4966632}"/>
              </a:ext>
            </a:extLst>
          </p:cNvPr>
          <p:cNvSpPr>
            <a:spLocks noGrp="1"/>
          </p:cNvSpPr>
          <p:nvPr>
            <p:ph idx="1"/>
          </p:nvPr>
        </p:nvSpPr>
        <p:spPr/>
        <p:txBody>
          <a:bodyPr/>
          <a:lstStyle/>
          <a:p>
            <a:r>
              <a:rPr lang="en-US" dirty="0"/>
              <a:t>I used two datasets, the Kaggle dataset with SMILES and 424 groups, and the Jean-Claude Bradley Open Melting Point Dataset[4], which is a common open-source dataset that lists SMILES descriptors of molecules and their melting points. I used the second dataset after poor performance in the GNN using only the Kaggle dataset.</a:t>
            </a:r>
          </a:p>
        </p:txBody>
      </p:sp>
      <p:sp>
        <p:nvSpPr>
          <p:cNvPr id="4" name="TextBox 3">
            <a:extLst>
              <a:ext uri="{FF2B5EF4-FFF2-40B4-BE49-F238E27FC236}">
                <a16:creationId xmlns:a16="http://schemas.microsoft.com/office/drawing/2014/main" id="{B45B70D1-17D8-E6C6-A818-DE68E3FC8A70}"/>
              </a:ext>
            </a:extLst>
          </p:cNvPr>
          <p:cNvSpPr txBox="1"/>
          <p:nvPr/>
        </p:nvSpPr>
        <p:spPr>
          <a:xfrm>
            <a:off x="540689" y="6209969"/>
            <a:ext cx="300082" cy="369332"/>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683957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CBDF8-8525-5E80-C733-6997FC0C329F}"/>
              </a:ext>
            </a:extLst>
          </p:cNvPr>
          <p:cNvSpPr>
            <a:spLocks noGrp="1"/>
          </p:cNvSpPr>
          <p:nvPr>
            <p:ph type="title"/>
          </p:nvPr>
        </p:nvSpPr>
        <p:spPr/>
        <p:txBody>
          <a:bodyPr/>
          <a:lstStyle/>
          <a:p>
            <a:r>
              <a:rPr lang="en-US" dirty="0"/>
              <a:t>Evaluation</a:t>
            </a:r>
          </a:p>
        </p:txBody>
      </p:sp>
      <p:graphicFrame>
        <p:nvGraphicFramePr>
          <p:cNvPr id="4" name="Content Placeholder 3">
            <a:extLst>
              <a:ext uri="{FF2B5EF4-FFF2-40B4-BE49-F238E27FC236}">
                <a16:creationId xmlns:a16="http://schemas.microsoft.com/office/drawing/2014/main" id="{244CC6EE-B303-E955-C17B-73B3B47A3B1E}"/>
              </a:ext>
            </a:extLst>
          </p:cNvPr>
          <p:cNvGraphicFramePr>
            <a:graphicFrameLocks noGrp="1"/>
          </p:cNvGraphicFramePr>
          <p:nvPr>
            <p:ph idx="1"/>
            <p:extLst>
              <p:ext uri="{D42A27DB-BD31-4B8C-83A1-F6EECF244321}">
                <p14:modId xmlns:p14="http://schemas.microsoft.com/office/powerpoint/2010/main" val="2395996020"/>
              </p:ext>
            </p:extLst>
          </p:nvPr>
        </p:nvGraphicFramePr>
        <p:xfrm>
          <a:off x="838199" y="1825625"/>
          <a:ext cx="9252006" cy="4399280"/>
        </p:xfrm>
        <a:graphic>
          <a:graphicData uri="http://schemas.openxmlformats.org/drawingml/2006/table">
            <a:tbl>
              <a:tblPr firstRow="1" bandRow="1">
                <a:tableStyleId>{5C22544A-7EE6-4342-B048-85BDC9FD1C3A}</a:tableStyleId>
              </a:tblPr>
              <a:tblGrid>
                <a:gridCol w="2529142">
                  <a:extLst>
                    <a:ext uri="{9D8B030D-6E8A-4147-A177-3AD203B41FA5}">
                      <a16:colId xmlns:a16="http://schemas.microsoft.com/office/drawing/2014/main" val="1074390289"/>
                    </a:ext>
                  </a:extLst>
                </a:gridCol>
                <a:gridCol w="2532527">
                  <a:extLst>
                    <a:ext uri="{9D8B030D-6E8A-4147-A177-3AD203B41FA5}">
                      <a16:colId xmlns:a16="http://schemas.microsoft.com/office/drawing/2014/main" val="2673121067"/>
                    </a:ext>
                  </a:extLst>
                </a:gridCol>
                <a:gridCol w="4190337">
                  <a:extLst>
                    <a:ext uri="{9D8B030D-6E8A-4147-A177-3AD203B41FA5}">
                      <a16:colId xmlns:a16="http://schemas.microsoft.com/office/drawing/2014/main" val="3821189742"/>
                    </a:ext>
                  </a:extLst>
                </a:gridCol>
              </a:tblGrid>
              <a:tr h="370840">
                <a:tc>
                  <a:txBody>
                    <a:bodyPr/>
                    <a:lstStyle/>
                    <a:p>
                      <a:r>
                        <a:rPr lang="en-US" dirty="0">
                          <a:solidFill>
                            <a:schemeClr val="bg1"/>
                          </a:solidFill>
                        </a:rPr>
                        <a:t>Model</a:t>
                      </a:r>
                    </a:p>
                  </a:txBody>
                  <a:tcPr/>
                </a:tc>
                <a:tc>
                  <a:txBody>
                    <a:bodyPr/>
                    <a:lstStyle/>
                    <a:p>
                      <a:r>
                        <a:rPr lang="en-US" dirty="0">
                          <a:solidFill>
                            <a:schemeClr val="bg1"/>
                          </a:solidFill>
                        </a:rPr>
                        <a:t>MAE</a:t>
                      </a:r>
                    </a:p>
                  </a:txBody>
                  <a:tcPr/>
                </a:tc>
                <a:tc>
                  <a:txBody>
                    <a:bodyPr/>
                    <a:lstStyle/>
                    <a:p>
                      <a:r>
                        <a:rPr lang="en-US" dirty="0">
                          <a:solidFill>
                            <a:schemeClr val="bg1"/>
                          </a:solidFill>
                        </a:rPr>
                        <a:t>Notes</a:t>
                      </a:r>
                    </a:p>
                  </a:txBody>
                  <a:tcPr/>
                </a:tc>
                <a:extLst>
                  <a:ext uri="{0D108BD9-81ED-4DB2-BD59-A6C34878D82A}">
                    <a16:rowId xmlns:a16="http://schemas.microsoft.com/office/drawing/2014/main" val="2335989206"/>
                  </a:ext>
                </a:extLst>
              </a:tr>
              <a:tr h="370840">
                <a:tc>
                  <a:txBody>
                    <a:bodyPr/>
                    <a:lstStyle/>
                    <a:p>
                      <a:r>
                        <a:rPr lang="en-US" dirty="0">
                          <a:solidFill>
                            <a:schemeClr val="bg1"/>
                          </a:solidFill>
                        </a:rPr>
                        <a:t>Baseline</a:t>
                      </a:r>
                    </a:p>
                  </a:txBody>
                  <a:tcPr/>
                </a:tc>
                <a:tc>
                  <a:txBody>
                    <a:bodyPr/>
                    <a:lstStyle/>
                    <a:p>
                      <a:r>
                        <a:rPr lang="en-US" dirty="0">
                          <a:solidFill>
                            <a:schemeClr val="bg1"/>
                          </a:solidFill>
                        </a:rPr>
                        <a:t>266.982</a:t>
                      </a:r>
                    </a:p>
                  </a:txBody>
                  <a:tcPr/>
                </a:tc>
                <a:tc>
                  <a:txBody>
                    <a:bodyPr/>
                    <a:lstStyle/>
                    <a:p>
                      <a:r>
                        <a:rPr lang="en-US" dirty="0">
                          <a:solidFill>
                            <a:schemeClr val="bg1"/>
                          </a:solidFill>
                        </a:rPr>
                        <a:t>Average over 10 different runs, random value in range of training data</a:t>
                      </a:r>
                    </a:p>
                  </a:txBody>
                  <a:tcPr/>
                </a:tc>
                <a:extLst>
                  <a:ext uri="{0D108BD9-81ED-4DB2-BD59-A6C34878D82A}">
                    <a16:rowId xmlns:a16="http://schemas.microsoft.com/office/drawing/2014/main" val="2389090624"/>
                  </a:ext>
                </a:extLst>
              </a:tr>
              <a:tr h="370840">
                <a:tc>
                  <a:txBody>
                    <a:bodyPr/>
                    <a:lstStyle/>
                    <a:p>
                      <a:r>
                        <a:rPr lang="en-US" dirty="0">
                          <a:solidFill>
                            <a:schemeClr val="bg1"/>
                          </a:solidFill>
                        </a:rPr>
                        <a:t>Linear Regression</a:t>
                      </a:r>
                    </a:p>
                  </a:txBody>
                  <a:tcPr/>
                </a:tc>
                <a:tc>
                  <a:txBody>
                    <a:bodyPr/>
                    <a:lstStyle/>
                    <a:p>
                      <a:r>
                        <a:rPr lang="en-US" sz="1800" b="0" i="0" kern="1200" dirty="0">
                          <a:solidFill>
                            <a:schemeClr val="bg1"/>
                          </a:solidFill>
                          <a:effectLst/>
                          <a:latin typeface="+mn-lt"/>
                          <a:ea typeface="+mn-ea"/>
                          <a:cs typeface="+mn-cs"/>
                        </a:rPr>
                        <a:t>51.522647857666016</a:t>
                      </a:r>
                      <a:endParaRPr lang="en-US" dirty="0">
                        <a:solidFill>
                          <a:schemeClr val="bg1"/>
                        </a:solidFill>
                      </a:endParaRPr>
                    </a:p>
                  </a:txBody>
                  <a:tcPr/>
                </a:tc>
                <a:tc>
                  <a:txBody>
                    <a:bodyPr/>
                    <a:lstStyle/>
                    <a:p>
                      <a:r>
                        <a:rPr lang="en-US" dirty="0">
                          <a:solidFill>
                            <a:schemeClr val="bg1"/>
                          </a:solidFill>
                        </a:rPr>
                        <a:t>Normalized Data, 1000 epochs, </a:t>
                      </a:r>
                      <a:r>
                        <a:rPr lang="en-US" dirty="0" err="1">
                          <a:solidFill>
                            <a:schemeClr val="bg1"/>
                          </a:solidFill>
                        </a:rPr>
                        <a:t>lr</a:t>
                      </a:r>
                      <a:r>
                        <a:rPr lang="en-US" dirty="0">
                          <a:solidFill>
                            <a:schemeClr val="bg1"/>
                          </a:solidFill>
                        </a:rPr>
                        <a:t>=0.1 (more epochs had no noticeable improvement)</a:t>
                      </a:r>
                    </a:p>
                  </a:txBody>
                  <a:tcPr/>
                </a:tc>
                <a:extLst>
                  <a:ext uri="{0D108BD9-81ED-4DB2-BD59-A6C34878D82A}">
                    <a16:rowId xmlns:a16="http://schemas.microsoft.com/office/drawing/2014/main" val="20960248"/>
                  </a:ext>
                </a:extLst>
              </a:tr>
              <a:tr h="370840">
                <a:tc>
                  <a:txBody>
                    <a:bodyPr/>
                    <a:lstStyle/>
                    <a:p>
                      <a:r>
                        <a:rPr lang="en-US" dirty="0">
                          <a:solidFill>
                            <a:schemeClr val="bg1"/>
                          </a:solidFill>
                        </a:rPr>
                        <a:t>Gradient Boosted Trees</a:t>
                      </a:r>
                    </a:p>
                  </a:txBody>
                  <a:tcPr/>
                </a:tc>
                <a:tc>
                  <a:txBody>
                    <a:bodyPr/>
                    <a:lstStyle/>
                    <a:p>
                      <a:r>
                        <a:rPr lang="en-US" sz="1800" b="0" i="0" kern="1200" dirty="0">
                          <a:solidFill>
                            <a:schemeClr val="bg1"/>
                          </a:solidFill>
                          <a:effectLst/>
                          <a:latin typeface="+mn-lt"/>
                          <a:ea typeface="+mn-ea"/>
                          <a:cs typeface="+mn-cs"/>
                        </a:rPr>
                        <a:t>56.54150070764068</a:t>
                      </a:r>
                      <a:endParaRPr lang="en-US" dirty="0">
                        <a:solidFill>
                          <a:schemeClr val="bg1"/>
                        </a:solidFill>
                      </a:endParaRPr>
                    </a:p>
                  </a:txBody>
                  <a:tcPr/>
                </a:tc>
                <a:tc>
                  <a:txBody>
                    <a:bodyPr/>
                    <a:lstStyle/>
                    <a:p>
                      <a:endParaRPr lang="en-US" dirty="0">
                        <a:solidFill>
                          <a:schemeClr val="bg1"/>
                        </a:solidFill>
                      </a:endParaRPr>
                    </a:p>
                  </a:txBody>
                  <a:tcPr/>
                </a:tc>
                <a:extLst>
                  <a:ext uri="{0D108BD9-81ED-4DB2-BD59-A6C34878D82A}">
                    <a16:rowId xmlns:a16="http://schemas.microsoft.com/office/drawing/2014/main" val="662938273"/>
                  </a:ext>
                </a:extLst>
              </a:tr>
              <a:tr h="370840">
                <a:tc>
                  <a:txBody>
                    <a:bodyPr/>
                    <a:lstStyle/>
                    <a:p>
                      <a:r>
                        <a:rPr lang="en-US" dirty="0">
                          <a:solidFill>
                            <a:schemeClr val="bg1"/>
                          </a:solidFill>
                        </a:rPr>
                        <a:t>Simple Neural Network</a:t>
                      </a:r>
                    </a:p>
                  </a:txBody>
                  <a:tcPr/>
                </a:tc>
                <a:tc>
                  <a:txBody>
                    <a:bodyPr/>
                    <a:lstStyle/>
                    <a:p>
                      <a:r>
                        <a:rPr lang="en-US" sz="1800" b="0" i="0" kern="1200" dirty="0">
                          <a:solidFill>
                            <a:schemeClr val="bg1"/>
                          </a:solidFill>
                          <a:effectLst/>
                          <a:latin typeface="+mn-lt"/>
                          <a:ea typeface="+mn-ea"/>
                          <a:cs typeface="+mn-cs"/>
                        </a:rPr>
                        <a:t>93.06829476007056</a:t>
                      </a:r>
                      <a:endParaRPr lang="en-US" dirty="0">
                        <a:solidFill>
                          <a:schemeClr val="bg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Batch normalization, 3 fully connected layers, dropout, 100 epochs (More epochs led to overfitting)</a:t>
                      </a:r>
                    </a:p>
                    <a:p>
                      <a:endParaRPr lang="en-US" dirty="0">
                        <a:solidFill>
                          <a:schemeClr val="bg1"/>
                        </a:solidFill>
                      </a:endParaRPr>
                    </a:p>
                  </a:txBody>
                  <a:tcPr/>
                </a:tc>
                <a:extLst>
                  <a:ext uri="{0D108BD9-81ED-4DB2-BD59-A6C34878D82A}">
                    <a16:rowId xmlns:a16="http://schemas.microsoft.com/office/drawing/2014/main" val="549981665"/>
                  </a:ext>
                </a:extLst>
              </a:tr>
              <a:tr h="370840">
                <a:tc>
                  <a:txBody>
                    <a:bodyPr/>
                    <a:lstStyle/>
                    <a:p>
                      <a:r>
                        <a:rPr lang="en-US" dirty="0">
                          <a:solidFill>
                            <a:schemeClr val="bg1"/>
                          </a:solidFill>
                        </a:rPr>
                        <a:t>Graph NN</a:t>
                      </a:r>
                    </a:p>
                  </a:txBody>
                  <a:tcPr/>
                </a:tc>
                <a:tc>
                  <a:txBody>
                    <a:bodyPr/>
                    <a:lstStyle/>
                    <a:p>
                      <a:r>
                        <a:rPr lang="en-US" dirty="0">
                          <a:solidFill>
                            <a:schemeClr val="bg1"/>
                          </a:solidFill>
                        </a:rPr>
                        <a:t>143.90505979310973</a:t>
                      </a:r>
                    </a:p>
                  </a:txBody>
                  <a:tcPr/>
                </a:tc>
                <a:tc>
                  <a:txBody>
                    <a:bodyPr/>
                    <a:lstStyle/>
                    <a:p>
                      <a:r>
                        <a:rPr lang="en-US" dirty="0">
                          <a:solidFill>
                            <a:schemeClr val="bg1"/>
                          </a:solidFill>
                        </a:rPr>
                        <a:t>Performed better on only the Kaggle dataset, compared to 154.0285636715423 with external dataset</a:t>
                      </a:r>
                    </a:p>
                  </a:txBody>
                  <a:tcPr/>
                </a:tc>
                <a:extLst>
                  <a:ext uri="{0D108BD9-81ED-4DB2-BD59-A6C34878D82A}">
                    <a16:rowId xmlns:a16="http://schemas.microsoft.com/office/drawing/2014/main" val="64023905"/>
                  </a:ext>
                </a:extLst>
              </a:tr>
            </a:tbl>
          </a:graphicData>
        </a:graphic>
      </p:graphicFrame>
      <p:sp>
        <p:nvSpPr>
          <p:cNvPr id="5" name="TextBox 4">
            <a:extLst>
              <a:ext uri="{FF2B5EF4-FFF2-40B4-BE49-F238E27FC236}">
                <a16:creationId xmlns:a16="http://schemas.microsoft.com/office/drawing/2014/main" id="{C1FBCEA6-D2CA-3DD2-74C1-608FBB081759}"/>
              </a:ext>
            </a:extLst>
          </p:cNvPr>
          <p:cNvSpPr txBox="1"/>
          <p:nvPr/>
        </p:nvSpPr>
        <p:spPr>
          <a:xfrm>
            <a:off x="540689" y="6209969"/>
            <a:ext cx="300082" cy="369332"/>
          </a:xfrm>
          <a:prstGeom prst="rect">
            <a:avLst/>
          </a:prstGeom>
          <a:noFill/>
        </p:spPr>
        <p:txBody>
          <a:bodyPr wrap="none" rtlCol="0">
            <a:spAutoFit/>
          </a:bodyPr>
          <a:lstStyle/>
          <a:p>
            <a:r>
              <a:rPr lang="en-US" dirty="0"/>
              <a:t>6</a:t>
            </a:r>
          </a:p>
        </p:txBody>
      </p:sp>
    </p:spTree>
    <p:extLst>
      <p:ext uri="{BB962C8B-B14F-4D97-AF65-F5344CB8AC3E}">
        <p14:creationId xmlns:p14="http://schemas.microsoft.com/office/powerpoint/2010/main" val="3434226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041FC-E01B-D8FC-5234-24C765447831}"/>
              </a:ext>
            </a:extLst>
          </p:cNvPr>
          <p:cNvSpPr>
            <a:spLocks noGrp="1"/>
          </p:cNvSpPr>
          <p:nvPr>
            <p:ph type="title"/>
          </p:nvPr>
        </p:nvSpPr>
        <p:spPr/>
        <p:txBody>
          <a:bodyPr/>
          <a:lstStyle/>
          <a:p>
            <a:r>
              <a:rPr lang="en-US" dirty="0"/>
              <a:t>Comparisons</a:t>
            </a:r>
          </a:p>
        </p:txBody>
      </p:sp>
      <p:sp>
        <p:nvSpPr>
          <p:cNvPr id="3" name="Content Placeholder 2">
            <a:extLst>
              <a:ext uri="{FF2B5EF4-FFF2-40B4-BE49-F238E27FC236}">
                <a16:creationId xmlns:a16="http://schemas.microsoft.com/office/drawing/2014/main" id="{EC569579-FF49-FE3E-7647-CDB196E492FF}"/>
              </a:ext>
            </a:extLst>
          </p:cNvPr>
          <p:cNvSpPr>
            <a:spLocks noGrp="1"/>
          </p:cNvSpPr>
          <p:nvPr>
            <p:ph idx="1"/>
          </p:nvPr>
        </p:nvSpPr>
        <p:spPr/>
        <p:txBody>
          <a:bodyPr/>
          <a:lstStyle/>
          <a:p>
            <a:r>
              <a:rPr lang="en-US" dirty="0"/>
              <a:t>Linear Regression surprisingly performed the best</a:t>
            </a:r>
          </a:p>
          <a:p>
            <a:r>
              <a:rPr lang="en-US" dirty="0"/>
              <a:t>My hypothesis for the graph data performing poorly is because the structure of the molecule may be less important to melting point than the groups that were included in the Kaggle dataset.</a:t>
            </a:r>
          </a:p>
          <a:p>
            <a:r>
              <a:rPr lang="en-US" dirty="0"/>
              <a:t>Unfortunately, the Kaggle dataset doesn’t describe what the groups are, so I couldn’t use an external dataset with more molecules</a:t>
            </a:r>
          </a:p>
        </p:txBody>
      </p:sp>
      <p:sp>
        <p:nvSpPr>
          <p:cNvPr id="4" name="TextBox 3">
            <a:extLst>
              <a:ext uri="{FF2B5EF4-FFF2-40B4-BE49-F238E27FC236}">
                <a16:creationId xmlns:a16="http://schemas.microsoft.com/office/drawing/2014/main" id="{F507D588-1007-C943-DAFE-8A7FEDC9F410}"/>
              </a:ext>
            </a:extLst>
          </p:cNvPr>
          <p:cNvSpPr txBox="1"/>
          <p:nvPr/>
        </p:nvSpPr>
        <p:spPr>
          <a:xfrm>
            <a:off x="540689" y="6209969"/>
            <a:ext cx="300082" cy="369332"/>
          </a:xfrm>
          <a:prstGeom prst="rect">
            <a:avLst/>
          </a:prstGeom>
          <a:noFill/>
        </p:spPr>
        <p:txBody>
          <a:bodyPr wrap="none" rtlCol="0">
            <a:spAutoFit/>
          </a:bodyPr>
          <a:lstStyle/>
          <a:p>
            <a:r>
              <a:rPr lang="en-US" dirty="0"/>
              <a:t>7</a:t>
            </a:r>
          </a:p>
        </p:txBody>
      </p:sp>
    </p:spTree>
    <p:extLst>
      <p:ext uri="{BB962C8B-B14F-4D97-AF65-F5344CB8AC3E}">
        <p14:creationId xmlns:p14="http://schemas.microsoft.com/office/powerpoint/2010/main" val="271912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B5873-1984-77E6-7A98-95406EDFE753}"/>
              </a:ext>
            </a:extLst>
          </p:cNvPr>
          <p:cNvSpPr>
            <a:spLocks noGrp="1"/>
          </p:cNvSpPr>
          <p:nvPr>
            <p:ph type="title"/>
          </p:nvPr>
        </p:nvSpPr>
        <p:spPr/>
        <p:txBody>
          <a:bodyPr/>
          <a:lstStyle/>
          <a:p>
            <a:r>
              <a:rPr lang="en-US" dirty="0"/>
              <a:t>Conclusion/Future work</a:t>
            </a:r>
          </a:p>
        </p:txBody>
      </p:sp>
      <p:sp>
        <p:nvSpPr>
          <p:cNvPr id="3" name="Content Placeholder 2">
            <a:extLst>
              <a:ext uri="{FF2B5EF4-FFF2-40B4-BE49-F238E27FC236}">
                <a16:creationId xmlns:a16="http://schemas.microsoft.com/office/drawing/2014/main" id="{F41D86CB-0029-2645-DC06-AABB53FABB1A}"/>
              </a:ext>
            </a:extLst>
          </p:cNvPr>
          <p:cNvSpPr>
            <a:spLocks noGrp="1"/>
          </p:cNvSpPr>
          <p:nvPr>
            <p:ph idx="1"/>
          </p:nvPr>
        </p:nvSpPr>
        <p:spPr/>
        <p:txBody>
          <a:bodyPr/>
          <a:lstStyle/>
          <a:p>
            <a:r>
              <a:rPr lang="en-US" dirty="0"/>
              <a:t>Graph NN wasn’t the silver bullet I had hoped</a:t>
            </a:r>
          </a:p>
          <a:p>
            <a:r>
              <a:rPr lang="en-US" dirty="0"/>
              <a:t>Simple techniques are often better and obviously less computationally expensive</a:t>
            </a:r>
          </a:p>
          <a:p>
            <a:r>
              <a:rPr lang="en-US" dirty="0"/>
              <a:t>The paper I presented on [2] implemented something called a Knowledge Infused Molecular Graph, which combined molecular descriptors as well as the SMILES description. The researchers found that their implementation outperformed a GNN and simple regression techniques on their own.</a:t>
            </a:r>
          </a:p>
        </p:txBody>
      </p:sp>
      <p:sp>
        <p:nvSpPr>
          <p:cNvPr id="4" name="TextBox 3">
            <a:extLst>
              <a:ext uri="{FF2B5EF4-FFF2-40B4-BE49-F238E27FC236}">
                <a16:creationId xmlns:a16="http://schemas.microsoft.com/office/drawing/2014/main" id="{F4C18B50-1DBC-D85E-0304-A195D66B3DFC}"/>
              </a:ext>
            </a:extLst>
          </p:cNvPr>
          <p:cNvSpPr txBox="1"/>
          <p:nvPr/>
        </p:nvSpPr>
        <p:spPr>
          <a:xfrm>
            <a:off x="540689" y="6209969"/>
            <a:ext cx="300082" cy="369332"/>
          </a:xfrm>
          <a:prstGeom prst="rect">
            <a:avLst/>
          </a:prstGeom>
          <a:noFill/>
        </p:spPr>
        <p:txBody>
          <a:bodyPr wrap="none" rtlCol="0">
            <a:spAutoFit/>
          </a:bodyPr>
          <a:lstStyle/>
          <a:p>
            <a:r>
              <a:rPr lang="en-US" dirty="0"/>
              <a:t>8</a:t>
            </a:r>
          </a:p>
        </p:txBody>
      </p:sp>
    </p:spTree>
    <p:extLst>
      <p:ext uri="{BB962C8B-B14F-4D97-AF65-F5344CB8AC3E}">
        <p14:creationId xmlns:p14="http://schemas.microsoft.com/office/powerpoint/2010/main" val="833784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D696D-61E9-8CBB-FC15-9B35DAA8D8B0}"/>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412A584-26AF-D647-DACD-BEC9617344B2}"/>
              </a:ext>
            </a:extLst>
          </p:cNvPr>
          <p:cNvSpPr>
            <a:spLocks noGrp="1"/>
          </p:cNvSpPr>
          <p:nvPr>
            <p:ph idx="1"/>
          </p:nvPr>
        </p:nvSpPr>
        <p:spPr>
          <a:xfrm>
            <a:off x="838200" y="1546926"/>
            <a:ext cx="10515600" cy="5032375"/>
          </a:xfrm>
        </p:spPr>
        <p:txBody>
          <a:bodyPr>
            <a:normAutofit/>
          </a:bodyPr>
          <a:lstStyle/>
          <a:p>
            <a:pPr marL="0" indent="0">
              <a:buNone/>
            </a:pPr>
            <a:r>
              <a:rPr lang="en-US" sz="2000" dirty="0"/>
              <a:t>[1] ScienceDirect. (n.d.). </a:t>
            </a:r>
            <a:r>
              <a:rPr lang="en-US" sz="2000" b="1" dirty="0"/>
              <a:t>Energetics</a:t>
            </a:r>
            <a:r>
              <a:rPr lang="en-US" sz="2000" dirty="0"/>
              <a:t>. In </a:t>
            </a:r>
            <a:r>
              <a:rPr lang="en-US" sz="2000" i="1" dirty="0"/>
              <a:t>ScienceDirect Topics</a:t>
            </a:r>
            <a:r>
              <a:rPr lang="en-US" sz="2000" dirty="0"/>
              <a:t>. Retrieved 2025, from https://www.sciencedirect.com/topics/chemistry/energetics#definition</a:t>
            </a:r>
          </a:p>
          <a:p>
            <a:pPr marL="0" indent="0">
              <a:buNone/>
            </a:pPr>
            <a:r>
              <a:rPr lang="en-US" sz="2000" dirty="0"/>
              <a:t>[2] Qing Ma, </a:t>
            </a:r>
            <a:r>
              <a:rPr lang="en-US" sz="2000" dirty="0" err="1"/>
              <a:t>Zhenqi</a:t>
            </a:r>
            <a:r>
              <a:rPr lang="en-US" sz="2000" dirty="0"/>
              <a:t> Zhang, Wei Yang, Wei Li, Jia Ju, </a:t>
            </a:r>
            <a:r>
              <a:rPr lang="en-US" sz="2000" dirty="0" err="1"/>
              <a:t>Guijuan</a:t>
            </a:r>
            <a:r>
              <a:rPr lang="en-US" sz="2000" dirty="0"/>
              <a:t> Fan,</a:t>
            </a:r>
          </a:p>
          <a:p>
            <a:pPr marL="0" indent="0">
              <a:buNone/>
            </a:pPr>
            <a:r>
              <a:rPr lang="en-US" sz="2000" dirty="0"/>
              <a:t>Strategies for constructing melt-castable energetic materials: A critical review,</a:t>
            </a:r>
          </a:p>
          <a:p>
            <a:pPr marL="0" indent="0">
              <a:buNone/>
            </a:pPr>
            <a:r>
              <a:rPr lang="en-US" sz="2000" dirty="0"/>
              <a:t>Energetic Materials Frontiers</a:t>
            </a:r>
          </a:p>
          <a:p>
            <a:pPr marL="0" lvl="0" indent="0" eaLnBrk="0" fontAlgn="base" hangingPunct="0">
              <a:lnSpc>
                <a:spcPct val="100000"/>
              </a:lnSpc>
              <a:spcBef>
                <a:spcPct val="0"/>
              </a:spcBef>
              <a:spcAft>
                <a:spcPct val="0"/>
              </a:spcAft>
              <a:buNone/>
            </a:pPr>
            <a:r>
              <a:rPr lang="en-US" altLang="en-US" sz="2000" dirty="0"/>
              <a:t>[3]</a:t>
            </a:r>
          </a:p>
          <a:p>
            <a:pPr marL="0" lvl="0" indent="0" eaLnBrk="0" fontAlgn="base" hangingPunct="0">
              <a:lnSpc>
                <a:spcPct val="100000"/>
              </a:lnSpc>
              <a:spcBef>
                <a:spcPct val="0"/>
              </a:spcBef>
              <a:spcAft>
                <a:spcPct val="0"/>
              </a:spcAft>
              <a:buNone/>
            </a:pPr>
            <a:r>
              <a:rPr lang="en-US" altLang="en-US" sz="2000" dirty="0" err="1"/>
              <a:t>masashitsubaki</a:t>
            </a:r>
            <a:r>
              <a:rPr lang="en-US" altLang="en-US" sz="2000" dirty="0"/>
              <a:t>, “GitHub - </a:t>
            </a:r>
            <a:r>
              <a:rPr lang="en-US" altLang="en-US" sz="2000" dirty="0" err="1"/>
              <a:t>masashitsubaki</a:t>
            </a:r>
            <a:r>
              <a:rPr lang="en-US" altLang="en-US" sz="2000" dirty="0"/>
              <a:t>/</a:t>
            </a:r>
            <a:r>
              <a:rPr lang="en-US" altLang="en-US" sz="2000" dirty="0" err="1"/>
              <a:t>molecularGNN_smiles</a:t>
            </a:r>
            <a:r>
              <a:rPr lang="en-US" altLang="en-US" sz="2000" dirty="0"/>
              <a:t>: The code of a graph neural network (GNN) for molecules, which is based on learning representations of r-radius subgraphs (i.e., fingerprints) in molecules.,” </a:t>
            </a:r>
            <a:r>
              <a:rPr lang="en-US" altLang="en-US" sz="2000" i="1" dirty="0"/>
              <a:t>GitHub</a:t>
            </a:r>
            <a:r>
              <a:rPr lang="en-US" altLang="en-US" sz="2000" dirty="0"/>
              <a:t>, 2025. </a:t>
            </a:r>
            <a:r>
              <a:rPr lang="en-US" altLang="en-US" sz="2000" dirty="0">
                <a:hlinkClick r:id="rId2"/>
              </a:rPr>
              <a:t>https://github.com/masashitsubaki/molecularGNN_smiles?tab=readme-ov-file</a:t>
            </a:r>
            <a:endParaRPr lang="en-US" altLang="en-US" sz="2000" dirty="0"/>
          </a:p>
          <a:p>
            <a:pPr marL="0" lvl="0" indent="0" eaLnBrk="0" fontAlgn="base" hangingPunct="0">
              <a:lnSpc>
                <a:spcPct val="100000"/>
              </a:lnSpc>
              <a:spcBef>
                <a:spcPct val="0"/>
              </a:spcBef>
              <a:spcAft>
                <a:spcPct val="0"/>
              </a:spcAft>
              <a:buNone/>
            </a:pPr>
            <a:r>
              <a:rPr lang="en-US" altLang="en-US" sz="2000" dirty="0"/>
              <a:t>[4]</a:t>
            </a:r>
          </a:p>
          <a:p>
            <a:pPr marL="0" lvl="0" indent="0" eaLnBrk="0" fontAlgn="base" hangingPunct="0">
              <a:lnSpc>
                <a:spcPct val="100000"/>
              </a:lnSpc>
              <a:spcBef>
                <a:spcPct val="0"/>
              </a:spcBef>
              <a:spcAft>
                <a:spcPct val="0"/>
              </a:spcAft>
              <a:buNone/>
            </a:pPr>
            <a:r>
              <a:rPr lang="en-US" altLang="en-US" sz="2000" dirty="0" err="1"/>
              <a:t>Awguhst</a:t>
            </a:r>
            <a:r>
              <a:rPr lang="en-US" altLang="en-US" sz="2000" dirty="0"/>
              <a:t>, “Melting Point Dataset: SMILES &amp; Tm,” </a:t>
            </a:r>
            <a:r>
              <a:rPr lang="en-US" altLang="en-US" sz="2000" i="1" dirty="0"/>
              <a:t>Kaggle.com</a:t>
            </a:r>
            <a:r>
              <a:rPr lang="en-US" altLang="en-US" sz="2000" dirty="0"/>
              <a:t>, 2025. https://www.kaggle.com/datasets/awguhst/melting-point-dataset (accessed Dec. 04, 2025).</a:t>
            </a:r>
          </a:p>
          <a:p>
            <a:pPr marL="0" lvl="0" indent="0" eaLnBrk="0" fontAlgn="base" hangingPunct="0">
              <a:lnSpc>
                <a:spcPct val="100000"/>
              </a:lnSpc>
              <a:spcBef>
                <a:spcPct val="0"/>
              </a:spcBef>
              <a:spcAft>
                <a:spcPct val="0"/>
              </a:spcAft>
              <a:buNone/>
            </a:pPr>
            <a:endParaRPr lang="en-US" altLang="en-US" sz="2000" dirty="0"/>
          </a:p>
          <a:p>
            <a:pPr marL="0" lvl="0" indent="0" eaLnBrk="0" fontAlgn="base" hangingPunct="0">
              <a:lnSpc>
                <a:spcPct val="100000"/>
              </a:lnSpc>
              <a:spcBef>
                <a:spcPct val="0"/>
              </a:spcBef>
              <a:spcAft>
                <a:spcPct val="0"/>
              </a:spcAft>
              <a:buNone/>
            </a:pPr>
            <a:endParaRPr lang="en-US" altLang="en-US" sz="2000" dirty="0"/>
          </a:p>
          <a:p>
            <a:pPr marL="0" lvl="0" indent="0" eaLnBrk="0" fontAlgn="base" hangingPunct="0">
              <a:lnSpc>
                <a:spcPct val="100000"/>
              </a:lnSpc>
              <a:spcBef>
                <a:spcPct val="0"/>
              </a:spcBef>
              <a:spcAft>
                <a:spcPct val="0"/>
              </a:spcAft>
              <a:buNone/>
            </a:pPr>
            <a:endParaRPr lang="en-US" alt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endParaRPr lang="en-US" sz="2000" dirty="0"/>
          </a:p>
        </p:txBody>
      </p:sp>
      <p:sp>
        <p:nvSpPr>
          <p:cNvPr id="4" name="TextBox 3">
            <a:extLst>
              <a:ext uri="{FF2B5EF4-FFF2-40B4-BE49-F238E27FC236}">
                <a16:creationId xmlns:a16="http://schemas.microsoft.com/office/drawing/2014/main" id="{F16F1663-2CF6-0C50-4046-28529F00EE51}"/>
              </a:ext>
            </a:extLst>
          </p:cNvPr>
          <p:cNvSpPr txBox="1"/>
          <p:nvPr/>
        </p:nvSpPr>
        <p:spPr>
          <a:xfrm>
            <a:off x="540689" y="6209969"/>
            <a:ext cx="300082" cy="369332"/>
          </a:xfrm>
          <a:prstGeom prst="rect">
            <a:avLst/>
          </a:prstGeom>
          <a:noFill/>
        </p:spPr>
        <p:txBody>
          <a:bodyPr wrap="none" rtlCol="0">
            <a:spAutoFit/>
          </a:bodyPr>
          <a:lstStyle/>
          <a:p>
            <a:r>
              <a:rPr lang="en-US" dirty="0"/>
              <a:t>9</a:t>
            </a:r>
          </a:p>
        </p:txBody>
      </p:sp>
    </p:spTree>
    <p:extLst>
      <p:ext uri="{BB962C8B-B14F-4D97-AF65-F5344CB8AC3E}">
        <p14:creationId xmlns:p14="http://schemas.microsoft.com/office/powerpoint/2010/main" val="618233377"/>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Funky shapes dark</Template>
  <TotalTime>889</TotalTime>
  <Words>732</Words>
  <Application>Microsoft Office PowerPoint</Application>
  <PresentationFormat>Widescreen</PresentationFormat>
  <Paragraphs>75</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Source Sans Pro</vt:lpstr>
      <vt:lpstr>FunkyShapesDarkVTI</vt:lpstr>
      <vt:lpstr>Melting Point Prediction for Organic Molecules</vt:lpstr>
      <vt:lpstr>Problem &amp; Motivation</vt:lpstr>
      <vt:lpstr>Methodology</vt:lpstr>
      <vt:lpstr>More Info on Graph Neural Network</vt:lpstr>
      <vt:lpstr>Experiments</vt:lpstr>
      <vt:lpstr>Evaluation</vt:lpstr>
      <vt:lpstr>Comparisons</vt:lpstr>
      <vt:lpstr>Conclusion/Future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Mitchell Clove</dc:creator>
  <cp:lastModifiedBy>Mitchell Clove</cp:lastModifiedBy>
  <cp:revision>2</cp:revision>
  <dcterms:created xsi:type="dcterms:W3CDTF">2025-12-03T19:16:36Z</dcterms:created>
  <dcterms:modified xsi:type="dcterms:W3CDTF">2025-12-04T20:59:20Z</dcterms:modified>
</cp:coreProperties>
</file>